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10"/>
  </p:notesMasterIdLst>
  <p:sldIdLst>
    <p:sldId id="256" r:id="rId2"/>
    <p:sldId id="301" r:id="rId3"/>
    <p:sldId id="257" r:id="rId4"/>
    <p:sldId id="258" r:id="rId5"/>
    <p:sldId id="296" r:id="rId6"/>
    <p:sldId id="297" r:id="rId7"/>
    <p:sldId id="298" r:id="rId8"/>
    <p:sldId id="300" r:id="rId9"/>
  </p:sldIdLst>
  <p:sldSz cx="9144000" cy="5143500" type="screen16x9"/>
  <p:notesSz cx="6858000" cy="9144000"/>
  <p:embeddedFontLst>
    <p:embeddedFont>
      <p:font typeface="Arial Black" panose="020B0A04020102020204" pitchFamily="34" charset="0"/>
      <p:bold r:id="rId11"/>
    </p:embeddedFont>
    <p:embeddedFont>
      <p:font typeface="Kanit" panose="020B0604020202020204" charset="-34"/>
      <p:regular r:id="rId12"/>
      <p:bold r:id="rId13"/>
      <p:italic r:id="rId14"/>
      <p:boldItalic r:id="rId15"/>
    </p:embeddedFont>
    <p:embeddedFont>
      <p:font typeface="Kanit SemiBold" panose="020B0604020202020204" charset="-34"/>
      <p:regular r:id="rId16"/>
      <p:bold r:id="rId17"/>
      <p:italic r:id="rId18"/>
      <p:boldItalic r:id="rId19"/>
    </p:embeddedFont>
    <p:embeddedFont>
      <p:font typeface="Sora Light" panose="020B0604020202020204" charset="0"/>
      <p:regular r:id="rId20"/>
    </p:embeddedFont>
    <p:embeddedFont>
      <p:font typeface="Work Sans" pitchFamily="2" charset="0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ED9A0"/>
    <a:srgbClr val="F3F3F3"/>
    <a:srgbClr val="DA0E29"/>
    <a:srgbClr val="B3B3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B4189AE-DE63-49C5-B02D-E749CEFBC1A6}" v="5" dt="2026-03-17T16:43:34.407"/>
  </p1510:revLst>
</p1510:revInfo>
</file>

<file path=ppt/tableStyles.xml><?xml version="1.0" encoding="utf-8"?>
<a:tblStyleLst xmlns:a="http://schemas.openxmlformats.org/drawingml/2006/main" def="{056CF88F-6B73-4DA1-9195-E3F53C53A24D}">
  <a:tblStyle styleId="{056CF88F-6B73-4DA1-9195-E3F53C53A24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E65E688F-82DD-49F3-BE74-5568712FA3FF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font" Target="fonts/font14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font" Target="fonts/font13.fntdata"/><Relationship Id="rId28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font" Target="fonts/font12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13ce2af5b7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13ce2af5b7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21380202488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21380202488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22375" y="1194750"/>
            <a:ext cx="4161900" cy="227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22375" y="3504425"/>
            <a:ext cx="4161900" cy="4446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"/>
          <p:cNvSpPr>
            <a:spLocks noGrp="1"/>
          </p:cNvSpPr>
          <p:nvPr>
            <p:ph type="pic" idx="2"/>
          </p:nvPr>
        </p:nvSpPr>
        <p:spPr>
          <a:xfrm>
            <a:off x="6183100" y="125"/>
            <a:ext cx="2344800" cy="5143500"/>
          </a:xfrm>
          <a:prstGeom prst="parallelogram">
            <a:avLst>
              <a:gd name="adj" fmla="val 0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>
            <a:spLocks noGrp="1"/>
          </p:cNvSpPr>
          <p:nvPr>
            <p:ph type="title"/>
          </p:nvPr>
        </p:nvSpPr>
        <p:spPr>
          <a:xfrm>
            <a:off x="722375" y="384048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33" name="Google Shape;33;p6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34" name="Google Shape;34;p6"/>
            <p:cNvSpPr/>
            <p:nvPr/>
          </p:nvSpPr>
          <p:spPr>
            <a:xfrm rot="10800000" flipH="1">
              <a:off x="0" y="0"/>
              <a:ext cx="397200" cy="4160700"/>
            </a:xfrm>
            <a:prstGeom prst="rtTriangl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6"/>
            <p:cNvSpPr/>
            <p:nvPr/>
          </p:nvSpPr>
          <p:spPr>
            <a:xfrm flipH="1">
              <a:off x="8746800" y="982800"/>
              <a:ext cx="397200" cy="4160700"/>
            </a:xfrm>
            <a:prstGeom prst="rtTriangl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9"/>
          <p:cNvSpPr txBox="1">
            <a:spLocks noGrp="1"/>
          </p:cNvSpPr>
          <p:nvPr>
            <p:ph type="title"/>
          </p:nvPr>
        </p:nvSpPr>
        <p:spPr>
          <a:xfrm>
            <a:off x="2549400" y="1584300"/>
            <a:ext cx="4045200" cy="73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subTitle" idx="1"/>
          </p:nvPr>
        </p:nvSpPr>
        <p:spPr>
          <a:xfrm>
            <a:off x="2549400" y="2324100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>
            <a:endParaRPr/>
          </a:p>
        </p:txBody>
      </p:sp>
      <p:grpSp>
        <p:nvGrpSpPr>
          <p:cNvPr id="50" name="Google Shape;50;p9"/>
          <p:cNvGrpSpPr/>
          <p:nvPr/>
        </p:nvGrpSpPr>
        <p:grpSpPr>
          <a:xfrm flipH="1">
            <a:off x="0" y="0"/>
            <a:ext cx="9144000" cy="5143500"/>
            <a:chOff x="0" y="0"/>
            <a:chExt cx="9144000" cy="5143500"/>
          </a:xfrm>
        </p:grpSpPr>
        <p:sp>
          <p:nvSpPr>
            <p:cNvPr id="51" name="Google Shape;51;p9"/>
            <p:cNvSpPr/>
            <p:nvPr/>
          </p:nvSpPr>
          <p:spPr>
            <a:xfrm rot="10800000" flipH="1">
              <a:off x="0" y="0"/>
              <a:ext cx="397200" cy="4160700"/>
            </a:xfrm>
            <a:prstGeom prst="rtTriangl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9"/>
            <p:cNvSpPr/>
            <p:nvPr/>
          </p:nvSpPr>
          <p:spPr>
            <a:xfrm flipH="1">
              <a:off x="8746800" y="982800"/>
              <a:ext cx="397200" cy="4160700"/>
            </a:xfrm>
            <a:prstGeom prst="rtTriangl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>
            <a:spLocks noGrp="1"/>
          </p:cNvSpPr>
          <p:nvPr>
            <p:ph type="title"/>
          </p:nvPr>
        </p:nvSpPr>
        <p:spPr>
          <a:xfrm>
            <a:off x="610450" y="383528"/>
            <a:ext cx="5121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title" idx="2" hasCustomPrompt="1"/>
          </p:nvPr>
        </p:nvSpPr>
        <p:spPr>
          <a:xfrm>
            <a:off x="1353720" y="1300700"/>
            <a:ext cx="804600" cy="8016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000" b="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64" name="Google Shape;64;p13"/>
          <p:cNvSpPr txBox="1">
            <a:spLocks noGrp="1"/>
          </p:cNvSpPr>
          <p:nvPr>
            <p:ph type="title" idx="3" hasCustomPrompt="1"/>
          </p:nvPr>
        </p:nvSpPr>
        <p:spPr>
          <a:xfrm>
            <a:off x="4183600" y="1300700"/>
            <a:ext cx="804600" cy="8016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000" b="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65" name="Google Shape;65;p13"/>
          <p:cNvSpPr txBox="1">
            <a:spLocks noGrp="1"/>
          </p:cNvSpPr>
          <p:nvPr>
            <p:ph type="title" idx="4" hasCustomPrompt="1"/>
          </p:nvPr>
        </p:nvSpPr>
        <p:spPr>
          <a:xfrm>
            <a:off x="1353720" y="3047028"/>
            <a:ext cx="804600" cy="8016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000" b="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66" name="Google Shape;66;p13"/>
          <p:cNvSpPr txBox="1">
            <a:spLocks noGrp="1"/>
          </p:cNvSpPr>
          <p:nvPr>
            <p:ph type="title" idx="5" hasCustomPrompt="1"/>
          </p:nvPr>
        </p:nvSpPr>
        <p:spPr>
          <a:xfrm>
            <a:off x="4183600" y="3047036"/>
            <a:ext cx="804600" cy="8016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000" b="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67" name="Google Shape;67;p13"/>
          <p:cNvSpPr txBox="1">
            <a:spLocks noGrp="1"/>
          </p:cNvSpPr>
          <p:nvPr>
            <p:ph type="subTitle" idx="1"/>
          </p:nvPr>
        </p:nvSpPr>
        <p:spPr>
          <a:xfrm>
            <a:off x="957420" y="2147375"/>
            <a:ext cx="1597200" cy="65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800">
                <a:latin typeface="Kanit SemiBold"/>
                <a:ea typeface="Kanit SemiBold"/>
                <a:cs typeface="Kanit SemiBold"/>
                <a:sym typeface="Kanit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9pPr>
          </a:lstStyle>
          <a:p>
            <a:endParaRPr/>
          </a:p>
        </p:txBody>
      </p:sp>
      <p:sp>
        <p:nvSpPr>
          <p:cNvPr id="68" name="Google Shape;68;p13"/>
          <p:cNvSpPr txBox="1">
            <a:spLocks noGrp="1"/>
          </p:cNvSpPr>
          <p:nvPr>
            <p:ph type="subTitle" idx="6"/>
          </p:nvPr>
        </p:nvSpPr>
        <p:spPr>
          <a:xfrm>
            <a:off x="3787300" y="2147375"/>
            <a:ext cx="1597200" cy="65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800">
                <a:latin typeface="Kanit SemiBold"/>
                <a:ea typeface="Kanit SemiBold"/>
                <a:cs typeface="Kanit SemiBold"/>
                <a:sym typeface="Kanit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9pPr>
          </a:lstStyle>
          <a:p>
            <a:endParaRPr/>
          </a:p>
        </p:txBody>
      </p:sp>
      <p:sp>
        <p:nvSpPr>
          <p:cNvPr id="69" name="Google Shape;69;p13"/>
          <p:cNvSpPr txBox="1">
            <a:spLocks noGrp="1"/>
          </p:cNvSpPr>
          <p:nvPr>
            <p:ph type="subTitle" idx="7"/>
          </p:nvPr>
        </p:nvSpPr>
        <p:spPr>
          <a:xfrm>
            <a:off x="957420" y="3893825"/>
            <a:ext cx="1597200" cy="65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800">
                <a:latin typeface="Kanit SemiBold"/>
                <a:ea typeface="Kanit SemiBold"/>
                <a:cs typeface="Kanit SemiBold"/>
                <a:sym typeface="Kanit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9pPr>
          </a:lstStyle>
          <a:p>
            <a:endParaRPr/>
          </a:p>
        </p:txBody>
      </p:sp>
      <p:sp>
        <p:nvSpPr>
          <p:cNvPr id="70" name="Google Shape;70;p13"/>
          <p:cNvSpPr txBox="1">
            <a:spLocks noGrp="1"/>
          </p:cNvSpPr>
          <p:nvPr>
            <p:ph type="subTitle" idx="8"/>
          </p:nvPr>
        </p:nvSpPr>
        <p:spPr>
          <a:xfrm>
            <a:off x="3787300" y="3893826"/>
            <a:ext cx="1597200" cy="65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800">
                <a:latin typeface="Kanit SemiBold"/>
                <a:ea typeface="Kanit SemiBold"/>
                <a:cs typeface="Kanit SemiBold"/>
                <a:sym typeface="Kanit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9pPr>
          </a:lstStyle>
          <a:p>
            <a:endParaRPr/>
          </a:p>
        </p:txBody>
      </p:sp>
      <p:sp>
        <p:nvSpPr>
          <p:cNvPr id="71" name="Google Shape;71;p13"/>
          <p:cNvSpPr>
            <a:spLocks noGrp="1"/>
          </p:cNvSpPr>
          <p:nvPr>
            <p:ph type="pic" idx="9"/>
          </p:nvPr>
        </p:nvSpPr>
        <p:spPr>
          <a:xfrm>
            <a:off x="6330350" y="125"/>
            <a:ext cx="2344800" cy="5143500"/>
          </a:xfrm>
          <a:prstGeom prst="parallelogram">
            <a:avLst>
              <a:gd name="adj" fmla="val 0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5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>
            <a:spLocks noGrp="1"/>
          </p:cNvSpPr>
          <p:nvPr>
            <p:ph type="title"/>
          </p:nvPr>
        </p:nvSpPr>
        <p:spPr>
          <a:xfrm>
            <a:off x="722375" y="384048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4"/>
          <p:cNvSpPr/>
          <p:nvPr/>
        </p:nvSpPr>
        <p:spPr>
          <a:xfrm rot="10800000">
            <a:off x="8746800" y="0"/>
            <a:ext cx="397200" cy="41607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14"/>
          <p:cNvSpPr/>
          <p:nvPr/>
        </p:nvSpPr>
        <p:spPr>
          <a:xfrm>
            <a:off x="0" y="982800"/>
            <a:ext cx="397200" cy="41607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7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7_1"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2"/>
          <p:cNvSpPr/>
          <p:nvPr/>
        </p:nvSpPr>
        <p:spPr>
          <a:xfrm rot="10800000" flipH="1">
            <a:off x="0" y="0"/>
            <a:ext cx="397200" cy="41607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22"/>
          <p:cNvSpPr/>
          <p:nvPr/>
        </p:nvSpPr>
        <p:spPr>
          <a:xfrm flipH="1">
            <a:off x="8746800" y="982800"/>
            <a:ext cx="397200" cy="41607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7_1_1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3"/>
          <p:cNvSpPr/>
          <p:nvPr/>
        </p:nvSpPr>
        <p:spPr>
          <a:xfrm>
            <a:off x="0" y="982800"/>
            <a:ext cx="397200" cy="41607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23"/>
          <p:cNvSpPr/>
          <p:nvPr/>
        </p:nvSpPr>
        <p:spPr>
          <a:xfrm rot="10800000">
            <a:off x="8746800" y="0"/>
            <a:ext cx="397200" cy="41607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2375" y="384048"/>
            <a:ext cx="7699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Kanit"/>
              <a:buNone/>
              <a:defRPr sz="3000" b="1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Kanit"/>
              <a:buNone/>
              <a:defRPr sz="3000" b="1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Kanit"/>
              <a:buNone/>
              <a:defRPr sz="3000" b="1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Kanit"/>
              <a:buNone/>
              <a:defRPr sz="3000" b="1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Kanit"/>
              <a:buNone/>
              <a:defRPr sz="3000" b="1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Kanit"/>
              <a:buNone/>
              <a:defRPr sz="3000" b="1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Kanit"/>
              <a:buNone/>
              <a:defRPr sz="3000" b="1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Kanit"/>
              <a:buNone/>
              <a:defRPr sz="3000" b="1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Kanit"/>
              <a:buNone/>
              <a:defRPr sz="3000" b="1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2375" y="1187600"/>
            <a:ext cx="76992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Work Sans"/>
              <a:buChar char="●"/>
              <a:defRPr sz="12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Work Sans"/>
              <a:buChar char="○"/>
              <a:defRPr sz="12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Work Sans"/>
              <a:buChar char="■"/>
              <a:defRPr sz="12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Work Sans"/>
              <a:buChar char="●"/>
              <a:defRPr sz="12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Work Sans"/>
              <a:buChar char="○"/>
              <a:defRPr sz="12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Work Sans"/>
              <a:buChar char="■"/>
              <a:defRPr sz="12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Work Sans"/>
              <a:buChar char="●"/>
              <a:defRPr sz="12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Work Sans"/>
              <a:buChar char="○"/>
              <a:defRPr sz="12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Work Sans"/>
              <a:buChar char="■"/>
              <a:defRPr sz="12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2" r:id="rId2"/>
    <p:sldLayoutId id="2147483655" r:id="rId3"/>
    <p:sldLayoutId id="2147483658" r:id="rId4"/>
    <p:sldLayoutId id="2147483659" r:id="rId5"/>
    <p:sldLayoutId id="2147483660" r:id="rId6"/>
    <p:sldLayoutId id="2147483667" r:id="rId7"/>
    <p:sldLayoutId id="2147483668" r:id="rId8"/>
    <p:sldLayoutId id="2147483669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xhere.com/en/photo/668036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8.jp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hyperlink" Target="https://pxhere.com/en/photo/1277186" TargetMode="External"/><Relationship Id="rId9" Type="http://schemas.openxmlformats.org/officeDocument/2006/relationships/image" Target="../media/image13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7.sv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7.sv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7"/>
          <p:cNvSpPr/>
          <p:nvPr/>
        </p:nvSpPr>
        <p:spPr>
          <a:xfrm flipH="1">
            <a:off x="5775250" y="0"/>
            <a:ext cx="3160500" cy="5143500"/>
          </a:xfrm>
          <a:prstGeom prst="parallelogram">
            <a:avLst>
              <a:gd name="adj" fmla="val 1569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27"/>
          <p:cNvSpPr txBox="1">
            <a:spLocks noGrp="1"/>
          </p:cNvSpPr>
          <p:nvPr>
            <p:ph type="ctrTitle"/>
          </p:nvPr>
        </p:nvSpPr>
        <p:spPr>
          <a:xfrm>
            <a:off x="677770" y="1848954"/>
            <a:ext cx="4161900" cy="182351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IN" sz="2800" dirty="0">
                <a:solidFill>
                  <a:srgbClr val="DA0E29"/>
                </a:solidFill>
                <a:latin typeface="Arial Black" panose="020B0A04020102020204" pitchFamily="34" charset="0"/>
              </a:rPr>
              <a:t>Airline Performance</a:t>
            </a:r>
            <a:br>
              <a:rPr lang="en-IN" sz="2800" dirty="0">
                <a:solidFill>
                  <a:srgbClr val="DA0E29"/>
                </a:solidFill>
                <a:latin typeface="Arial Black" panose="020B0A04020102020204" pitchFamily="34" charset="0"/>
              </a:rPr>
            </a:br>
            <a:r>
              <a:rPr lang="en-IN" sz="2800" dirty="0">
                <a:solidFill>
                  <a:srgbClr val="DA0E29"/>
                </a:solidFill>
                <a:latin typeface="Arial Black" panose="020B0A04020102020204" pitchFamily="34" charset="0"/>
              </a:rPr>
              <a:t>&amp; Delay Analysis</a:t>
            </a:r>
            <a:br>
              <a:rPr lang="en-IN" sz="3600" dirty="0"/>
            </a:br>
            <a:endParaRPr sz="3600" b="0" dirty="0">
              <a:solidFill>
                <a:schemeClr val="lt1"/>
              </a:solidFill>
            </a:endParaRPr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F2ABA9C4-A77D-CE8C-D87E-54BBECBE104A}"/>
              </a:ext>
            </a:extLst>
          </p:cNvPr>
          <p:cNvPicPr>
            <a:picLocks noGrp="1" noChangeAspect="1"/>
          </p:cNvPicPr>
          <p:nvPr>
            <p:ph type="pic" idx="2"/>
          </p:nvPr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18109" r="18109"/>
          <a:stretch>
            <a:fillRect/>
          </a:stretch>
        </p:blipFill>
        <p:spPr/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FFEA419D-C161-00C7-EEDE-A853EBEF40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12" y="208915"/>
            <a:ext cx="7699375" cy="8959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dirty="0">
                <a:latin typeface="Arial Black" panose="020B0A04020102020204" pitchFamily="34" charset="0"/>
              </a:rPr>
              <a:t>Flight Delays: The Silent Cost to Airlines and Passengers</a:t>
            </a:r>
            <a:endParaRPr lang="en-IN" dirty="0">
              <a:latin typeface="Arial Black" panose="020B0A04020102020204" pitchFamily="34" charset="0"/>
            </a:endParaRPr>
          </a:p>
        </p:txBody>
      </p:sp>
      <p:sp>
        <p:nvSpPr>
          <p:cNvPr id="4" name="Shape 11">
            <a:extLst>
              <a:ext uri="{FF2B5EF4-FFF2-40B4-BE49-F238E27FC236}">
                <a16:creationId xmlns:a16="http://schemas.microsoft.com/office/drawing/2014/main" id="{F7BD247F-7693-DDDE-916A-AC70059EFC32}"/>
              </a:ext>
            </a:extLst>
          </p:cNvPr>
          <p:cNvSpPr/>
          <p:nvPr/>
        </p:nvSpPr>
        <p:spPr>
          <a:xfrm>
            <a:off x="339089" y="1249681"/>
            <a:ext cx="8465820" cy="45719"/>
          </a:xfrm>
          <a:prstGeom prst="rect">
            <a:avLst/>
          </a:prstGeom>
          <a:solidFill>
            <a:srgbClr val="DA1B2E"/>
          </a:solidFill>
          <a:ln/>
        </p:spPr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E7A3429-9FC9-484F-7AC9-15770D1B011D}"/>
              </a:ext>
            </a:extLst>
          </p:cNvPr>
          <p:cNvSpPr txBox="1"/>
          <p:nvPr/>
        </p:nvSpPr>
        <p:spPr>
          <a:xfrm>
            <a:off x="251460" y="1699260"/>
            <a:ext cx="381762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'In an industry where time is the ultimate currency, a </a:t>
            </a:r>
            <a:r>
              <a:rPr lang="en-US" b="1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19.08% delay rate</a:t>
            </a:r>
            <a:r>
              <a:rPr lang="en-US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across </a:t>
            </a:r>
            <a:r>
              <a:rPr lang="en-US" b="1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121 million flights </a:t>
            </a:r>
            <a:r>
              <a:rPr lang="en-US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over the represents a staggering </a:t>
            </a:r>
            <a:r>
              <a:rPr lang="en-US" b="1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Silent Cost</a:t>
            </a:r>
            <a:r>
              <a:rPr lang="en-US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How do these minutes translate into millions in lost revenue and eroded passenger trust?'</a:t>
            </a:r>
            <a:endParaRPr lang="en-IN" dirty="0">
              <a:solidFill>
                <a:srgbClr val="C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263286-3744-7EBB-58E4-9D29C61DEE1E}"/>
              </a:ext>
            </a:extLst>
          </p:cNvPr>
          <p:cNvSpPr txBox="1"/>
          <p:nvPr/>
        </p:nvSpPr>
        <p:spPr>
          <a:xfrm>
            <a:off x="251460" y="1379220"/>
            <a:ext cx="2346960" cy="3200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Silent Cost</a:t>
            </a:r>
            <a:endParaRPr lang="en-IN" b="1" dirty="0">
              <a:solidFill>
                <a:srgbClr val="C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CA00B276-9940-8E99-9551-4C44E88EC4B7}"/>
              </a:ext>
            </a:extLst>
          </p:cNvPr>
          <p:cNvSpPr/>
          <p:nvPr/>
        </p:nvSpPr>
        <p:spPr>
          <a:xfrm>
            <a:off x="5130165" y="1450062"/>
            <a:ext cx="1994059" cy="249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b="1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Objectives</a:t>
            </a: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1BEF052D-8A91-A803-6149-11726EF11658}"/>
              </a:ext>
            </a:extLst>
          </p:cNvPr>
          <p:cNvSpPr/>
          <p:nvPr/>
        </p:nvSpPr>
        <p:spPr>
          <a:xfrm>
            <a:off x="5114727" y="2024526"/>
            <a:ext cx="3856792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US" b="1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WHEN:</a:t>
            </a:r>
            <a:r>
              <a:rPr lang="en-US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Identifying the Seasonal Pulse of delays</a:t>
            </a:r>
            <a:endParaRPr lang="en-IN" dirty="0">
              <a:solidFill>
                <a:srgbClr val="C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8D009854-6FB4-4E85-E4BD-37CFF8F8762A}"/>
              </a:ext>
            </a:extLst>
          </p:cNvPr>
          <p:cNvSpPr/>
          <p:nvPr/>
        </p:nvSpPr>
        <p:spPr>
          <a:xfrm>
            <a:off x="5130165" y="2696476"/>
            <a:ext cx="3856792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b="1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WHERE:</a:t>
            </a:r>
            <a:r>
              <a:rPr lang="en-US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Identifying Geographic Bottlenecks and Operational Inefficiencies</a:t>
            </a:r>
            <a:endParaRPr lang="en-IN" dirty="0">
              <a:solidFill>
                <a:srgbClr val="C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ext 10">
            <a:extLst>
              <a:ext uri="{FF2B5EF4-FFF2-40B4-BE49-F238E27FC236}">
                <a16:creationId xmlns:a16="http://schemas.microsoft.com/office/drawing/2014/main" id="{D9BA8B2B-84C3-13AC-3AEC-EC3A16DE83D5}"/>
              </a:ext>
            </a:extLst>
          </p:cNvPr>
          <p:cNvSpPr/>
          <p:nvPr/>
        </p:nvSpPr>
        <p:spPr>
          <a:xfrm>
            <a:off x="5130165" y="3552568"/>
            <a:ext cx="3856792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b="1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WHY:</a:t>
            </a:r>
            <a:r>
              <a:rPr lang="en-US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Exposing the Root Cause and the 'Domino Effect' of late aircraft</a:t>
            </a:r>
            <a:endParaRPr lang="en-IN" dirty="0">
              <a:solidFill>
                <a:srgbClr val="C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2" name="Image 1" descr="preencoded.png">
            <a:extLst>
              <a:ext uri="{FF2B5EF4-FFF2-40B4-BE49-F238E27FC236}">
                <a16:creationId xmlns:a16="http://schemas.microsoft.com/office/drawing/2014/main" id="{49823F98-AE40-A8EF-1A36-5A609289A2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14727" y="1718152"/>
            <a:ext cx="249198" cy="249198"/>
          </a:xfrm>
          <a:prstGeom prst="rect">
            <a:avLst/>
          </a:prstGeom>
        </p:spPr>
      </p:pic>
      <p:pic>
        <p:nvPicPr>
          <p:cNvPr id="13" name="Image 2" descr="preencoded.png">
            <a:extLst>
              <a:ext uri="{FF2B5EF4-FFF2-40B4-BE49-F238E27FC236}">
                <a16:creationId xmlns:a16="http://schemas.microsoft.com/office/drawing/2014/main" id="{1384F5FE-3B74-3C0A-1596-C4EBD2B1377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94548" y="2378611"/>
            <a:ext cx="249198" cy="249198"/>
          </a:xfrm>
          <a:prstGeom prst="rect">
            <a:avLst/>
          </a:prstGeom>
        </p:spPr>
      </p:pic>
      <p:pic>
        <p:nvPicPr>
          <p:cNvPr id="14" name="Image 3" descr="preencoded.png">
            <a:extLst>
              <a:ext uri="{FF2B5EF4-FFF2-40B4-BE49-F238E27FC236}">
                <a16:creationId xmlns:a16="http://schemas.microsoft.com/office/drawing/2014/main" id="{B2B4DEC9-19D5-4661-A011-757E902EC86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143423" y="3220249"/>
            <a:ext cx="220502" cy="220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11145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2909227-35FD-E5C3-9293-40FA9325A4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898" y="311612"/>
            <a:ext cx="7968204" cy="667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600"/>
              </a:lnSpc>
              <a:buNone/>
            </a:pPr>
            <a:r>
              <a:rPr lang="en-US" sz="2800" dirty="0">
                <a:solidFill>
                  <a:srgbClr val="C00000"/>
                </a:solidFill>
                <a:latin typeface="Arial Black" panose="020B0A04020102020204" pitchFamily="34" charset="0"/>
                <a:ea typeface="Sora Semi Bold" pitchFamily="34" charset="-122"/>
                <a:cs typeface="Sora Semi Bold" pitchFamily="34" charset="-120"/>
              </a:rPr>
              <a:t>Dataset Overview &amp; Analytical Approach</a:t>
            </a:r>
            <a:endParaRPr lang="en-US" sz="2800" dirty="0">
              <a:solidFill>
                <a:srgbClr val="C00000"/>
              </a:solidFill>
              <a:latin typeface="Arial Black" panose="020B0A04020102020204" pitchFamily="34" charset="0"/>
            </a:endParaRP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732D9BC4-1E62-38D0-A40A-2CD1BBE75137}"/>
              </a:ext>
            </a:extLst>
          </p:cNvPr>
          <p:cNvSpPr/>
          <p:nvPr/>
        </p:nvSpPr>
        <p:spPr>
          <a:xfrm>
            <a:off x="542718" y="1099721"/>
            <a:ext cx="3420904" cy="427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350"/>
              </a:lnSpc>
              <a:buNone/>
            </a:pPr>
            <a:r>
              <a:rPr lang="en-US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Multi-Year Dataset</a:t>
            </a: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A665BAE5-BE0B-D49D-6D10-6819B021349D}"/>
              </a:ext>
            </a:extLst>
          </p:cNvPr>
          <p:cNvSpPr/>
          <p:nvPr/>
        </p:nvSpPr>
        <p:spPr>
          <a:xfrm>
            <a:off x="542718" y="1591192"/>
            <a:ext cx="4029282" cy="1047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Historical airline operations data aggregated by month, capturing comprehensive flight performance metrics across carriers and airports.</a:t>
            </a: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8EFE4729-23D4-4FC9-B4DC-5C8B57007E6D}"/>
              </a:ext>
            </a:extLst>
          </p:cNvPr>
          <p:cNvSpPr/>
          <p:nvPr/>
        </p:nvSpPr>
        <p:spPr>
          <a:xfrm>
            <a:off x="542718" y="2639122"/>
            <a:ext cx="1708572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Metrics Analyzed</a:t>
            </a: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3FB61019-E4C9-5AB5-F658-10AAD956149F}"/>
              </a:ext>
            </a:extLst>
          </p:cNvPr>
          <p:cNvSpPr/>
          <p:nvPr/>
        </p:nvSpPr>
        <p:spPr>
          <a:xfrm>
            <a:off x="453510" y="3062868"/>
            <a:ext cx="2490412" cy="1614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 flights (arr_flights)</a:t>
            </a:r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Delayed flights (arr_del15)</a:t>
            </a:r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Cancellations (arr_cancelled)</a:t>
            </a:r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On-Time-Performance</a:t>
            </a: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A44A8955-BE77-E09D-285C-7AC6C26EBF9A}"/>
              </a:ext>
            </a:extLst>
          </p:cNvPr>
          <p:cNvSpPr/>
          <p:nvPr/>
        </p:nvSpPr>
        <p:spPr>
          <a:xfrm>
            <a:off x="4828848" y="1094882"/>
            <a:ext cx="2707332" cy="427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350"/>
              </a:lnSpc>
              <a:buNone/>
            </a:pPr>
            <a:r>
              <a:rPr lang="en-US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Analytical Methodology</a:t>
            </a: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B0241314-6E83-2314-ED2B-094C7A65E58D}"/>
              </a:ext>
            </a:extLst>
          </p:cNvPr>
          <p:cNvSpPr/>
          <p:nvPr/>
        </p:nvSpPr>
        <p:spPr>
          <a:xfrm>
            <a:off x="4783668" y="1591192"/>
            <a:ext cx="4086012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Exploratory Data Analysis focused on KPI-based evaluation to understand operational inefficiencies and their root causes.</a:t>
            </a: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ADA27385-48D9-E919-1753-A02C8D88147C}"/>
              </a:ext>
            </a:extLst>
          </p:cNvPr>
          <p:cNvSpPr/>
          <p:nvPr/>
        </p:nvSpPr>
        <p:spPr>
          <a:xfrm>
            <a:off x="4783668" y="2560320"/>
            <a:ext cx="1708572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Analysis Framework</a:t>
            </a: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1D37E8A5-2FFF-B00E-A6B1-B41D3F0ABF8A}"/>
              </a:ext>
            </a:extLst>
          </p:cNvPr>
          <p:cNvSpPr/>
          <p:nvPr/>
        </p:nvSpPr>
        <p:spPr>
          <a:xfrm>
            <a:off x="4783668" y="2928182"/>
            <a:ext cx="3772434" cy="19607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Delay Rate calculation</a:t>
            </a:r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Cancellation Rate analysis</a:t>
            </a:r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Average Delay assessment</a:t>
            </a:r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Comparative analysis across airlines, airports, and time periods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9"/>
          <p:cNvSpPr txBox="1">
            <a:spLocks noGrp="1"/>
          </p:cNvSpPr>
          <p:nvPr>
            <p:ph type="title"/>
          </p:nvPr>
        </p:nvSpPr>
        <p:spPr>
          <a:xfrm>
            <a:off x="572350" y="139688"/>
            <a:ext cx="5121000" cy="100331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latin typeface="Arial Black" panose="020B0A04020102020204" pitchFamily="34" charset="0"/>
              </a:rPr>
              <a:t>KPIs - Key Performance Indicators</a:t>
            </a:r>
            <a:endParaRPr sz="2400" dirty="0">
              <a:latin typeface="Arial Black" panose="020B0A04020102020204" pitchFamily="34" charset="0"/>
            </a:endParaRPr>
          </a:p>
        </p:txBody>
      </p:sp>
      <p:sp>
        <p:nvSpPr>
          <p:cNvPr id="176" name="Google Shape;176;p29"/>
          <p:cNvSpPr/>
          <p:nvPr/>
        </p:nvSpPr>
        <p:spPr>
          <a:xfrm rot="10800000">
            <a:off x="5795725" y="0"/>
            <a:ext cx="3160500" cy="5143500"/>
          </a:xfrm>
          <a:prstGeom prst="parallelogram">
            <a:avLst>
              <a:gd name="adj" fmla="val 203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3" name="Picture Placeholder 22">
            <a:extLst>
              <a:ext uri="{FF2B5EF4-FFF2-40B4-BE49-F238E27FC236}">
                <a16:creationId xmlns:a16="http://schemas.microsoft.com/office/drawing/2014/main" id="{DB9A479C-73DB-A597-ADE8-F584DB0A1C67}"/>
              </a:ext>
            </a:extLst>
          </p:cNvPr>
          <p:cNvPicPr>
            <a:picLocks noGrp="1" noChangeAspect="1"/>
          </p:cNvPicPr>
          <p:nvPr>
            <p:ph type="pic" idx="9"/>
          </p:nvPr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27207" r="27207"/>
          <a:stretch>
            <a:fillRect/>
          </a:stretch>
        </p:blipFill>
        <p:spPr/>
      </p:pic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76982505-9843-6A1A-7887-766B46C4C5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9136191"/>
              </p:ext>
            </p:extLst>
          </p:nvPr>
        </p:nvGraphicFramePr>
        <p:xfrm>
          <a:off x="2010888" y="1068085"/>
          <a:ext cx="3682462" cy="3310627"/>
        </p:xfrm>
        <a:graphic>
          <a:graphicData uri="http://schemas.openxmlformats.org/drawingml/2006/table">
            <a:tbl>
              <a:tblPr firstRow="1" firstCol="1" bandRow="1">
                <a:tableStyleId>{9D7B26C5-4107-4FEC-AEDC-1716B250A1EF}</a:tableStyleId>
              </a:tblPr>
              <a:tblGrid>
                <a:gridCol w="3682462">
                  <a:extLst>
                    <a:ext uri="{9D8B030D-6E8A-4147-A177-3AD203B41FA5}">
                      <a16:colId xmlns:a16="http://schemas.microsoft.com/office/drawing/2014/main" val="2422844596"/>
                    </a:ext>
                  </a:extLst>
                </a:gridCol>
              </a:tblGrid>
              <a:tr h="74510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dirty="0">
                          <a:effectLst/>
                        </a:rPr>
                        <a:t>Total Flights represents the </a:t>
                      </a:r>
                      <a:r>
                        <a:rPr lang="en-US" sz="1400" kern="100" dirty="0">
                          <a:effectLst/>
                        </a:rPr>
                        <a:t>overall airline operations, forming the baseline for performance and delay analysis.</a:t>
                      </a:r>
                      <a:endParaRPr lang="en-IN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03018315"/>
                  </a:ext>
                </a:extLst>
              </a:tr>
              <a:tr h="74510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dirty="0">
                          <a:effectLst/>
                        </a:rPr>
                        <a:t>On-Time Performance </a:t>
                      </a:r>
                      <a:r>
                        <a:rPr lang="en-US" sz="1400" kern="100" dirty="0">
                          <a:effectLst/>
                        </a:rPr>
                        <a:t>measures flight punctuality, indicating reliability and schedule efficiency.</a:t>
                      </a:r>
                      <a:endParaRPr lang="en-IN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44344121"/>
                  </a:ext>
                </a:extLst>
              </a:tr>
              <a:tr h="769388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</a:rPr>
                        <a:t>Cancellation Rate </a:t>
                      </a:r>
                      <a:r>
                        <a:rPr lang="en-US" sz="1400" kern="100">
                          <a:effectLst/>
                        </a:rPr>
                        <a:t>shows the proportion of cancelled flights, reflecting operational disruptions.</a:t>
                      </a:r>
                      <a:endParaRPr lang="en-IN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06953473"/>
                  </a:ext>
                </a:extLst>
              </a:tr>
              <a:tr h="1051039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dirty="0">
                          <a:effectLst/>
                        </a:rPr>
                        <a:t>Delay Rate </a:t>
                      </a:r>
                      <a:r>
                        <a:rPr lang="en-US" sz="1400" kern="100" dirty="0">
                          <a:effectLst/>
                        </a:rPr>
                        <a:t>indicates the percentage of delayed flights, highlighting inefficiencies in operations.</a:t>
                      </a:r>
                      <a:endParaRPr lang="en-IN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08441463"/>
                  </a:ext>
                </a:extLst>
              </a:tr>
            </a:tbl>
          </a:graphicData>
        </a:graphic>
      </p:graphicFrame>
      <p:sp>
        <p:nvSpPr>
          <p:cNvPr id="27" name="TextBox 26">
            <a:extLst>
              <a:ext uri="{FF2B5EF4-FFF2-40B4-BE49-F238E27FC236}">
                <a16:creationId xmlns:a16="http://schemas.microsoft.com/office/drawing/2014/main" id="{44FEE0E5-1217-FC10-276F-F83BE99C561D}"/>
              </a:ext>
            </a:extLst>
          </p:cNvPr>
          <p:cNvSpPr txBox="1"/>
          <p:nvPr/>
        </p:nvSpPr>
        <p:spPr>
          <a:xfrm>
            <a:off x="187775" y="1070782"/>
            <a:ext cx="1720738" cy="646986"/>
          </a:xfrm>
          <a:prstGeom prst="roundRect">
            <a:avLst/>
          </a:prstGeom>
          <a:solidFill>
            <a:srgbClr val="FED9A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</a:t>
            </a:r>
            <a:r>
              <a:rPr lang="en-US" sz="16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121 M</a:t>
            </a:r>
          </a:p>
          <a:p>
            <a:r>
              <a:rPr lang="en-US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</a:t>
            </a:r>
            <a:r>
              <a:rPr lang="en-US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 Flights</a:t>
            </a:r>
            <a:endParaRPr lang="en-IN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9" name="Graphic 28" descr="Airplane with solid fill">
            <a:extLst>
              <a:ext uri="{FF2B5EF4-FFF2-40B4-BE49-F238E27FC236}">
                <a16:creationId xmlns:a16="http://schemas.microsoft.com/office/drawing/2014/main" id="{9BFCEB98-76CE-3F50-EBC7-6F7D271D2DB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87775" y="1101887"/>
            <a:ext cx="574232" cy="584775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38C76456-7164-5C01-E1F2-6BA9EC30C2FD}"/>
              </a:ext>
            </a:extLst>
          </p:cNvPr>
          <p:cNvSpPr txBox="1"/>
          <p:nvPr/>
        </p:nvSpPr>
        <p:spPr>
          <a:xfrm>
            <a:off x="187775" y="1856946"/>
            <a:ext cx="1720738" cy="578882"/>
          </a:xfrm>
          <a:prstGeom prst="roundRect">
            <a:avLst/>
          </a:prstGeom>
          <a:solidFill>
            <a:srgbClr val="FED9A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</a:t>
            </a:r>
            <a:r>
              <a:rPr lang="en-US" sz="16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84.95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US" sz="12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On-Time Performance</a:t>
            </a:r>
            <a:endParaRPr lang="en-IN" sz="120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B3C0A71-66F5-8C90-D2CC-A81FD5674B00}"/>
              </a:ext>
            </a:extLst>
          </p:cNvPr>
          <p:cNvSpPr txBox="1"/>
          <p:nvPr/>
        </p:nvSpPr>
        <p:spPr>
          <a:xfrm>
            <a:off x="187775" y="2571750"/>
            <a:ext cx="1720738" cy="646986"/>
          </a:xfrm>
          <a:prstGeom prst="roundRect">
            <a:avLst/>
          </a:prstGeom>
          <a:solidFill>
            <a:srgbClr val="FED9A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</a:t>
            </a:r>
            <a:r>
              <a:rPr lang="en-US" sz="16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2.72</a:t>
            </a:r>
          </a:p>
          <a:p>
            <a:pPr algn="ctr"/>
            <a:r>
              <a:rPr lang="en-US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</a:t>
            </a:r>
            <a:r>
              <a:rPr lang="en-US" sz="11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Cancellation rate</a:t>
            </a:r>
            <a:endParaRPr lang="en-IN" sz="160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E20B6FB2-8898-2C8D-16CC-81DEDC8848A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5328" y="1910576"/>
            <a:ext cx="728546" cy="277011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A93F274F-9E67-9A02-9E8D-5B893E5D4CC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5328" y="2648862"/>
            <a:ext cx="516679" cy="480914"/>
          </a:xfrm>
          <a:prstGeom prst="rect">
            <a:avLst/>
          </a:prstGeom>
        </p:spPr>
      </p:pic>
      <p:grpSp>
        <p:nvGrpSpPr>
          <p:cNvPr id="39" name="Group 38">
            <a:extLst>
              <a:ext uri="{FF2B5EF4-FFF2-40B4-BE49-F238E27FC236}">
                <a16:creationId xmlns:a16="http://schemas.microsoft.com/office/drawing/2014/main" id="{1426D7C0-5665-20A8-17CA-FD8547C819EA}"/>
              </a:ext>
            </a:extLst>
          </p:cNvPr>
          <p:cNvGrpSpPr/>
          <p:nvPr/>
        </p:nvGrpSpPr>
        <p:grpSpPr>
          <a:xfrm>
            <a:off x="136587" y="3456839"/>
            <a:ext cx="1823113" cy="646986"/>
            <a:chOff x="187775" y="3354658"/>
            <a:chExt cx="1720738" cy="561471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DEC1A2A9-C0C7-70E2-1BCC-AB5E3D96DDB7}"/>
                </a:ext>
              </a:extLst>
            </p:cNvPr>
            <p:cNvSpPr txBox="1"/>
            <p:nvPr/>
          </p:nvSpPr>
          <p:spPr>
            <a:xfrm>
              <a:off x="187775" y="3354658"/>
              <a:ext cx="1720738" cy="561471"/>
            </a:xfrm>
            <a:prstGeom prst="roundRect">
              <a:avLst/>
            </a:prstGeom>
            <a:solidFill>
              <a:srgbClr val="FED9A0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sz="16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               </a:t>
              </a:r>
              <a:r>
                <a:rPr lang="en-US" sz="1600" b="1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19.08</a:t>
              </a:r>
            </a:p>
            <a:p>
              <a:pPr algn="ctr"/>
              <a:r>
                <a:rPr lang="en-US" sz="160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          </a:t>
              </a:r>
              <a:r>
                <a:rPr lang="en-US" b="1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Delay Rate</a:t>
              </a:r>
              <a:endParaRPr lang="en-IN" sz="16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4C0D95DA-37B6-3100-C176-DD4DF91AC23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alphaModFix amt="85000"/>
            </a:blip>
            <a:stretch>
              <a:fillRect/>
            </a:stretch>
          </p:blipFill>
          <p:spPr>
            <a:xfrm>
              <a:off x="242097" y="3376689"/>
              <a:ext cx="539440" cy="485454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>
              <a:reflection blurRad="12700" stA="38000" endPos="28000" dist="5000" dir="5400000" sy="-100000" algn="bl" rotWithShape="0"/>
            </a:effectLst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84;p30">
            <a:extLst>
              <a:ext uri="{FF2B5EF4-FFF2-40B4-BE49-F238E27FC236}">
                <a16:creationId xmlns:a16="http://schemas.microsoft.com/office/drawing/2014/main" id="{E76CCC8C-A227-441D-B4EB-2BFF8D86C7C5}"/>
              </a:ext>
            </a:extLst>
          </p:cNvPr>
          <p:cNvSpPr txBox="1">
            <a:spLocks/>
          </p:cNvSpPr>
          <p:nvPr/>
        </p:nvSpPr>
        <p:spPr>
          <a:xfrm>
            <a:off x="53926" y="52648"/>
            <a:ext cx="4295050" cy="608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Kanit"/>
              <a:buNone/>
              <a:defRPr sz="3000" b="1" i="0" u="none" strike="noStrike" cap="none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Kanit"/>
              <a:buNone/>
              <a:defRPr sz="3000" b="1" i="0" u="none" strike="noStrike" cap="none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Kanit"/>
              <a:buNone/>
              <a:defRPr sz="3000" b="1" i="0" u="none" strike="noStrike" cap="none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Kanit"/>
              <a:buNone/>
              <a:defRPr sz="3000" b="1" i="0" u="none" strike="noStrike" cap="none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Kanit"/>
              <a:buNone/>
              <a:defRPr sz="3000" b="1" i="0" u="none" strike="noStrike" cap="none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Kanit"/>
              <a:buNone/>
              <a:defRPr sz="3000" b="1" i="0" u="none" strike="noStrike" cap="none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Kanit"/>
              <a:buNone/>
              <a:defRPr sz="3000" b="1" i="0" u="none" strike="noStrike" cap="none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Kanit"/>
              <a:buNone/>
              <a:defRPr sz="3000" b="1" i="0" u="none" strike="noStrike" cap="none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Kanit"/>
              <a:buNone/>
              <a:defRPr sz="3000" b="1" i="0" u="none" strike="noStrike" cap="none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9pPr>
          </a:lstStyle>
          <a:p>
            <a:pPr algn="ctr">
              <a:lnSpc>
                <a:spcPts val="3300"/>
              </a:lnSpc>
            </a:pPr>
            <a:r>
              <a:rPr lang="en-US" sz="3600" dirty="0">
                <a:solidFill>
                  <a:schemeClr val="tx1"/>
                </a:solidFill>
                <a:latin typeface="Arial Black" panose="020B0A04020102020204" pitchFamily="34" charset="0"/>
                <a:ea typeface="Sora Semi Bold" pitchFamily="34" charset="-122"/>
                <a:cs typeface="Sora Semi Bold" pitchFamily="34" charset="-120"/>
              </a:rPr>
              <a:t>Key Insights -1 </a:t>
            </a:r>
            <a:endParaRPr lang="en-US" sz="36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719C4A5-0746-4BD7-991A-35348D65FC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573" y="758283"/>
            <a:ext cx="3814648" cy="203224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CFF56A1-E495-0346-8CA3-BD6053CC2F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5816" y="2896947"/>
            <a:ext cx="4267200" cy="2146938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23D33F72-1378-6D87-A73E-A1FC04F67345}"/>
              </a:ext>
            </a:extLst>
          </p:cNvPr>
          <p:cNvSpPr txBox="1"/>
          <p:nvPr/>
        </p:nvSpPr>
        <p:spPr>
          <a:xfrm>
            <a:off x="4876803" y="691376"/>
            <a:ext cx="3533634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Seasonal Peak Drive Delays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Delay rates peak during mid-year and December, indicating strong seasonal travel impact.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Lower delays around September suggest improved operational stability during off-peak periods.</a:t>
            </a:r>
          </a:p>
          <a:p>
            <a:endParaRPr lang="en-IN" dirty="0">
              <a:solidFill>
                <a:srgbClr val="C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sz="1200" b="1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“Delays are not random events, they follow seasonal demand pressure.” </a:t>
            </a:r>
          </a:p>
          <a:p>
            <a:endParaRPr lang="en-IN" b="1" dirty="0">
              <a:solidFill>
                <a:srgbClr val="C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AD1BFFF-DCB1-83EC-9298-AB62E3E6116A}"/>
              </a:ext>
            </a:extLst>
          </p:cNvPr>
          <p:cNvSpPr txBox="1"/>
          <p:nvPr/>
        </p:nvSpPr>
        <p:spPr>
          <a:xfrm>
            <a:off x="559341" y="2896947"/>
            <a:ext cx="328422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Operational Efficiency Varies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Some airlines consistently record higher delay rates, reflecting operational inefficiencies.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Performance variation highlights differences in scheduling, resource management, and capacity handling</a:t>
            </a:r>
            <a:r>
              <a:rPr lang="en-IN" dirty="0">
                <a:solidFill>
                  <a:srgbClr val="C00000"/>
                </a:solidFill>
              </a:rPr>
              <a:t>.</a:t>
            </a:r>
          </a:p>
          <a:p>
            <a:endParaRPr lang="en-IN" b="1" dirty="0">
              <a:solidFill>
                <a:srgbClr val="C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5" name="Graphic 24" descr="Arrow: Straight with solid fill">
            <a:extLst>
              <a:ext uri="{FF2B5EF4-FFF2-40B4-BE49-F238E27FC236}">
                <a16:creationId xmlns:a16="http://schemas.microsoft.com/office/drawing/2014/main" id="{A3ED8D90-71A7-C8BE-4E08-1E0B839DF8B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42059" y="3265382"/>
            <a:ext cx="805676" cy="914400"/>
          </a:xfrm>
          <a:prstGeom prst="rect">
            <a:avLst/>
          </a:prstGeom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</p:pic>
      <p:pic>
        <p:nvPicPr>
          <p:cNvPr id="26" name="Graphic 25" descr="Arrow: Straight with solid fill">
            <a:extLst>
              <a:ext uri="{FF2B5EF4-FFF2-40B4-BE49-F238E27FC236}">
                <a16:creationId xmlns:a16="http://schemas.microsoft.com/office/drawing/2014/main" id="{C1879CE1-3255-B01A-0BFA-12252C193C1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0800000">
            <a:off x="4071127" y="1136492"/>
            <a:ext cx="805676" cy="914400"/>
          </a:xfrm>
          <a:prstGeom prst="rect">
            <a:avLst/>
          </a:prstGeom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</p:pic>
    </p:spTree>
    <p:extLst>
      <p:ext uri="{BB962C8B-B14F-4D97-AF65-F5344CB8AC3E}">
        <p14:creationId xmlns:p14="http://schemas.microsoft.com/office/powerpoint/2010/main" val="16647306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84;p30">
            <a:extLst>
              <a:ext uri="{FF2B5EF4-FFF2-40B4-BE49-F238E27FC236}">
                <a16:creationId xmlns:a16="http://schemas.microsoft.com/office/drawing/2014/main" id="{B1E2962F-9C2C-1E13-ACF1-98FF5FE09EB0}"/>
              </a:ext>
            </a:extLst>
          </p:cNvPr>
          <p:cNvSpPr txBox="1">
            <a:spLocks/>
          </p:cNvSpPr>
          <p:nvPr/>
        </p:nvSpPr>
        <p:spPr>
          <a:xfrm>
            <a:off x="53926" y="52648"/>
            <a:ext cx="4295050" cy="608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Kanit"/>
              <a:buNone/>
              <a:defRPr sz="3000" b="1" i="0" u="none" strike="noStrike" cap="none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Kanit"/>
              <a:buNone/>
              <a:defRPr sz="3000" b="1" i="0" u="none" strike="noStrike" cap="none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Kanit"/>
              <a:buNone/>
              <a:defRPr sz="3000" b="1" i="0" u="none" strike="noStrike" cap="none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Kanit"/>
              <a:buNone/>
              <a:defRPr sz="3000" b="1" i="0" u="none" strike="noStrike" cap="none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Kanit"/>
              <a:buNone/>
              <a:defRPr sz="3000" b="1" i="0" u="none" strike="noStrike" cap="none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Kanit"/>
              <a:buNone/>
              <a:defRPr sz="3000" b="1" i="0" u="none" strike="noStrike" cap="none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Kanit"/>
              <a:buNone/>
              <a:defRPr sz="3000" b="1" i="0" u="none" strike="noStrike" cap="none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Kanit"/>
              <a:buNone/>
              <a:defRPr sz="3000" b="1" i="0" u="none" strike="noStrike" cap="none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Kanit"/>
              <a:buNone/>
              <a:defRPr sz="3000" b="1" i="0" u="none" strike="noStrike" cap="none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9pPr>
          </a:lstStyle>
          <a:p>
            <a:pPr algn="ctr">
              <a:lnSpc>
                <a:spcPts val="3300"/>
              </a:lnSpc>
            </a:pPr>
            <a:r>
              <a:rPr lang="en-US" sz="3600" dirty="0">
                <a:solidFill>
                  <a:schemeClr val="tx1"/>
                </a:solidFill>
                <a:latin typeface="Arial Black" panose="020B0A04020102020204" pitchFamily="34" charset="0"/>
                <a:ea typeface="Sora Semi Bold" pitchFamily="34" charset="-122"/>
                <a:cs typeface="Sora Semi Bold" pitchFamily="34" charset="-120"/>
              </a:rPr>
              <a:t>Key Insights -2 </a:t>
            </a:r>
            <a:endParaRPr lang="en-US" sz="36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050244A-7A51-94A5-DA74-F8BBDF6E1B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9857" y="2672576"/>
            <a:ext cx="4038554" cy="236191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325E46E-ED8C-36B8-8A45-AAD12F249026}"/>
              </a:ext>
            </a:extLst>
          </p:cNvPr>
          <p:cNvSpPr txBox="1"/>
          <p:nvPr/>
        </p:nvSpPr>
        <p:spPr>
          <a:xfrm>
            <a:off x="5428074" y="773523"/>
            <a:ext cx="3352376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Geographic Concentration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small number of airports contribute disproportionately to total delays.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suggests congestion and infrastructure limitations in high-traffic regions.</a:t>
            </a:r>
          </a:p>
          <a:p>
            <a:endParaRPr lang="en-IN" b="1" dirty="0">
              <a:solidFill>
                <a:srgbClr val="C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D2E1BED-AA4B-F394-074B-F1A33E069AC5}"/>
              </a:ext>
            </a:extLst>
          </p:cNvPr>
          <p:cNvSpPr txBox="1"/>
          <p:nvPr/>
        </p:nvSpPr>
        <p:spPr>
          <a:xfrm>
            <a:off x="472734" y="3105787"/>
            <a:ext cx="345743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Late Aircraft Dominates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Carrier and late aircraft delays form the largest share of total delays.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External factors like weather and security have relatively minimal impact.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solidFill>
                <a:srgbClr val="C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sz="1200" b="1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“Airline delays are not isolated incidents –</a:t>
            </a:r>
          </a:p>
          <a:p>
            <a:r>
              <a:rPr lang="en-IN" sz="1200" b="1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They are chain reactions.”</a:t>
            </a:r>
          </a:p>
          <a:p>
            <a:endParaRPr lang="en-IN" b="1" dirty="0">
              <a:solidFill>
                <a:srgbClr val="C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8DCA18A-B02A-296D-E47C-BEF16D1AE8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927" y="652718"/>
            <a:ext cx="4183252" cy="2279681"/>
          </a:xfrm>
          <a:prstGeom prst="rect">
            <a:avLst/>
          </a:prstGeom>
        </p:spPr>
      </p:pic>
      <p:pic>
        <p:nvPicPr>
          <p:cNvPr id="13" name="Graphic 12" descr="Arrow: Straight with solid fill">
            <a:extLst>
              <a:ext uri="{FF2B5EF4-FFF2-40B4-BE49-F238E27FC236}">
                <a16:creationId xmlns:a16="http://schemas.microsoft.com/office/drawing/2014/main" id="{030CA77F-853F-0C69-364D-15CE0525DD2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000500" y="3249930"/>
            <a:ext cx="805676" cy="914400"/>
          </a:xfrm>
          <a:prstGeom prst="rect">
            <a:avLst/>
          </a:prstGeom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</p:pic>
      <p:pic>
        <p:nvPicPr>
          <p:cNvPr id="14" name="Graphic 13" descr="Arrow: Straight with solid fill">
            <a:extLst>
              <a:ext uri="{FF2B5EF4-FFF2-40B4-BE49-F238E27FC236}">
                <a16:creationId xmlns:a16="http://schemas.microsoft.com/office/drawing/2014/main" id="{0788B070-27F2-8E24-1C1A-4DD942BEC24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0800000">
            <a:off x="4533788" y="1116542"/>
            <a:ext cx="805676" cy="914400"/>
          </a:xfrm>
          <a:prstGeom prst="rect">
            <a:avLst/>
          </a:prstGeom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</p:pic>
    </p:spTree>
    <p:extLst>
      <p:ext uri="{BB962C8B-B14F-4D97-AF65-F5344CB8AC3E}">
        <p14:creationId xmlns:p14="http://schemas.microsoft.com/office/powerpoint/2010/main" val="7075745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20BD667-542F-ECA8-3636-4EA75ED4A3FA}"/>
              </a:ext>
            </a:extLst>
          </p:cNvPr>
          <p:cNvSpPr/>
          <p:nvPr/>
        </p:nvSpPr>
        <p:spPr>
          <a:xfrm>
            <a:off x="677942" y="65161"/>
            <a:ext cx="4970483" cy="553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200"/>
              </a:lnSpc>
              <a:buNone/>
            </a:pPr>
            <a:r>
              <a:rPr lang="en-US" sz="2400" dirty="0">
                <a:solidFill>
                  <a:srgbClr val="C00000"/>
                </a:solidFill>
                <a:latin typeface="Arial Black" panose="020B0A04020102020204" pitchFamily="34" charset="0"/>
                <a:ea typeface="Sora Semi Bold" pitchFamily="34" charset="-122"/>
                <a:cs typeface="Sora Semi Bold" pitchFamily="34" charset="-120"/>
              </a:rPr>
              <a:t>Strategic Recommendations</a:t>
            </a:r>
            <a:endParaRPr lang="en-US" sz="2400" dirty="0">
              <a:solidFill>
                <a:srgbClr val="C00000"/>
              </a:solidFill>
              <a:latin typeface="Arial Black" panose="020B0A04020102020204" pitchFamily="34" charset="0"/>
            </a:endParaRPr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62D980DF-3D9E-95AC-8F60-6D025F3D77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570" y="753594"/>
            <a:ext cx="3837910" cy="595076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031910F0-4DDF-253C-F14C-B2A464D72582}"/>
              </a:ext>
            </a:extLst>
          </p:cNvPr>
          <p:cNvSpPr/>
          <p:nvPr/>
        </p:nvSpPr>
        <p:spPr>
          <a:xfrm>
            <a:off x="383570" y="1388719"/>
            <a:ext cx="3629739" cy="332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Control Delay Propagation</a:t>
            </a: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0ED95578-19DC-4623-526B-F56567E42F05}"/>
              </a:ext>
            </a:extLst>
          </p:cNvPr>
          <p:cNvSpPr/>
          <p:nvPr/>
        </p:nvSpPr>
        <p:spPr>
          <a:xfrm>
            <a:off x="383570" y="1702316"/>
            <a:ext cx="4188430" cy="6262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 strategic buffers for high-risk flights to break the chain reaction of late aircraft delays.</a:t>
            </a:r>
          </a:p>
        </p:txBody>
      </p:sp>
      <p:pic>
        <p:nvPicPr>
          <p:cNvPr id="6" name="Image 1" descr="preencoded.png">
            <a:extLst>
              <a:ext uri="{FF2B5EF4-FFF2-40B4-BE49-F238E27FC236}">
                <a16:creationId xmlns:a16="http://schemas.microsoft.com/office/drawing/2014/main" id="{1B929655-A2D7-76BB-2258-7B1B5CE1C7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9114" y="769823"/>
            <a:ext cx="4401790" cy="609803"/>
          </a:xfrm>
          <a:prstGeom prst="rect">
            <a:avLst/>
          </a:prstGeom>
        </p:spPr>
      </p:pic>
      <p:sp>
        <p:nvSpPr>
          <p:cNvPr id="7" name="Text 3">
            <a:extLst>
              <a:ext uri="{FF2B5EF4-FFF2-40B4-BE49-F238E27FC236}">
                <a16:creationId xmlns:a16="http://schemas.microsoft.com/office/drawing/2014/main" id="{0B62A459-8F9D-9CE8-6F1D-7CF600FB2830}"/>
              </a:ext>
            </a:extLst>
          </p:cNvPr>
          <p:cNvSpPr/>
          <p:nvPr/>
        </p:nvSpPr>
        <p:spPr>
          <a:xfrm>
            <a:off x="4572000" y="1393636"/>
            <a:ext cx="2875478" cy="332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Optimize Scheduling</a:t>
            </a:r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8358A855-3235-4FBB-D727-823B85A1815B}"/>
              </a:ext>
            </a:extLst>
          </p:cNvPr>
          <p:cNvSpPr/>
          <p:nvPr/>
        </p:nvSpPr>
        <p:spPr>
          <a:xfrm>
            <a:off x="4572000" y="1687849"/>
            <a:ext cx="4188430" cy="6262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Reduce congestion during peak hours and redistribute traffic across less congested time slots.</a:t>
            </a:r>
          </a:p>
        </p:txBody>
      </p:sp>
      <p:pic>
        <p:nvPicPr>
          <p:cNvPr id="9" name="Image 2" descr="preencoded.png">
            <a:extLst>
              <a:ext uri="{FF2B5EF4-FFF2-40B4-BE49-F238E27FC236}">
                <a16:creationId xmlns:a16="http://schemas.microsoft.com/office/drawing/2014/main" id="{905224FB-6B89-8EE8-B9E4-3DD6334A59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8867" y="2335076"/>
            <a:ext cx="4116323" cy="586673"/>
          </a:xfrm>
          <a:prstGeom prst="rect">
            <a:avLst/>
          </a:prstGeom>
        </p:spPr>
      </p:pic>
      <p:sp>
        <p:nvSpPr>
          <p:cNvPr id="10" name="Text 5">
            <a:extLst>
              <a:ext uri="{FF2B5EF4-FFF2-40B4-BE49-F238E27FC236}">
                <a16:creationId xmlns:a16="http://schemas.microsoft.com/office/drawing/2014/main" id="{43950F16-15BC-D0EF-FAA4-E8EF6E9ED974}"/>
              </a:ext>
            </a:extLst>
          </p:cNvPr>
          <p:cNvSpPr/>
          <p:nvPr/>
        </p:nvSpPr>
        <p:spPr>
          <a:xfrm>
            <a:off x="271234" y="2942043"/>
            <a:ext cx="3854410" cy="332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Smart Cancellation Strategy</a:t>
            </a:r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ECEDD72C-EAF1-1DFE-F1F1-04C06934D7A3}"/>
              </a:ext>
            </a:extLst>
          </p:cNvPr>
          <p:cNvSpPr/>
          <p:nvPr/>
        </p:nvSpPr>
        <p:spPr>
          <a:xfrm>
            <a:off x="271234" y="3310716"/>
            <a:ext cx="4188430" cy="6262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Cancel flights early rather than repeated delays to minimize passenger disruption and operational costs</a:t>
            </a:r>
            <a:r>
              <a:rPr lang="en-US" sz="1550" dirty="0">
                <a:solidFill>
                  <a:srgbClr val="C00000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.</a:t>
            </a:r>
            <a:endParaRPr lang="en-US" sz="1550" dirty="0">
              <a:solidFill>
                <a:srgbClr val="C00000"/>
              </a:solidFill>
            </a:endParaRPr>
          </a:p>
        </p:txBody>
      </p:sp>
      <p:pic>
        <p:nvPicPr>
          <p:cNvPr id="12" name="Image 3" descr="preencoded.png">
            <a:extLst>
              <a:ext uri="{FF2B5EF4-FFF2-40B4-BE49-F238E27FC236}">
                <a16:creationId xmlns:a16="http://schemas.microsoft.com/office/drawing/2014/main" id="{9D2E6D9C-4C04-5041-23C4-E59767FEA4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39114" y="2335076"/>
            <a:ext cx="4336018" cy="591387"/>
          </a:xfrm>
          <a:prstGeom prst="rect">
            <a:avLst/>
          </a:prstGeom>
        </p:spPr>
      </p:pic>
      <p:sp>
        <p:nvSpPr>
          <p:cNvPr id="13" name="Text 7">
            <a:extLst>
              <a:ext uri="{FF2B5EF4-FFF2-40B4-BE49-F238E27FC236}">
                <a16:creationId xmlns:a16="http://schemas.microsoft.com/office/drawing/2014/main" id="{601EA961-5717-D337-8501-A8D71F8047C8}"/>
              </a:ext>
            </a:extLst>
          </p:cNvPr>
          <p:cNvSpPr/>
          <p:nvPr/>
        </p:nvSpPr>
        <p:spPr>
          <a:xfrm>
            <a:off x="4539114" y="3021061"/>
            <a:ext cx="3103364" cy="332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Weather Preparedness</a:t>
            </a:r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F1EB4479-0EDA-BEDD-DDC4-7CE53CD7CD90}"/>
              </a:ext>
            </a:extLst>
          </p:cNvPr>
          <p:cNvSpPr/>
          <p:nvPr/>
        </p:nvSpPr>
        <p:spPr>
          <a:xfrm>
            <a:off x="4572000" y="3310716"/>
            <a:ext cx="3962400" cy="6961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Pre-adjust schedules based on forecast data to proactively manage weather-related disruptions.</a:t>
            </a:r>
          </a:p>
        </p:txBody>
      </p:sp>
      <p:sp>
        <p:nvSpPr>
          <p:cNvPr id="15" name="Shape 9">
            <a:extLst>
              <a:ext uri="{FF2B5EF4-FFF2-40B4-BE49-F238E27FC236}">
                <a16:creationId xmlns:a16="http://schemas.microsoft.com/office/drawing/2014/main" id="{E74ABEB9-86D3-6015-7DBB-AD12AA62E9E5}"/>
              </a:ext>
            </a:extLst>
          </p:cNvPr>
          <p:cNvSpPr/>
          <p:nvPr/>
        </p:nvSpPr>
        <p:spPr>
          <a:xfrm>
            <a:off x="235982" y="4037210"/>
            <a:ext cx="8298418" cy="881906"/>
          </a:xfrm>
          <a:prstGeom prst="roundRect">
            <a:avLst>
              <a:gd name="adj" fmla="val 7475"/>
            </a:avLst>
          </a:prstGeom>
          <a:solidFill>
            <a:srgbClr val="F7BBC1"/>
          </a:solidFill>
          <a:ln/>
        </p:spPr>
      </p:sp>
      <p:sp>
        <p:nvSpPr>
          <p:cNvPr id="20" name="Text 10">
            <a:extLst>
              <a:ext uri="{FF2B5EF4-FFF2-40B4-BE49-F238E27FC236}">
                <a16:creationId xmlns:a16="http://schemas.microsoft.com/office/drawing/2014/main" id="{07C18A4C-F6F3-8541-5C4B-E6E931291F07}"/>
              </a:ext>
            </a:extLst>
          </p:cNvPr>
          <p:cNvSpPr/>
          <p:nvPr/>
        </p:nvSpPr>
        <p:spPr>
          <a:xfrm>
            <a:off x="271234" y="4116228"/>
            <a:ext cx="8158391" cy="745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Instead of eliminating delays completely, focus on controlling how delays spread across the system to minimize cascading effects.</a:t>
            </a:r>
          </a:p>
        </p:txBody>
      </p:sp>
    </p:spTree>
    <p:extLst>
      <p:ext uri="{BB962C8B-B14F-4D97-AF65-F5344CB8AC3E}">
        <p14:creationId xmlns:p14="http://schemas.microsoft.com/office/powerpoint/2010/main" val="11038820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4339F74-F0B3-D06D-0A8E-5EA23C6A3B61}"/>
              </a:ext>
            </a:extLst>
          </p:cNvPr>
          <p:cNvSpPr/>
          <p:nvPr/>
        </p:nvSpPr>
        <p:spPr>
          <a:xfrm>
            <a:off x="815340" y="114820"/>
            <a:ext cx="7360920" cy="49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850"/>
              </a:lnSpc>
              <a:buNone/>
            </a:pPr>
            <a:r>
              <a:rPr lang="en-US" sz="2400" dirty="0">
                <a:solidFill>
                  <a:srgbClr val="C00000"/>
                </a:solidFill>
                <a:latin typeface="Arial Black" panose="020B0A04020102020204" pitchFamily="34" charset="0"/>
                <a:ea typeface="Sora Semi Bold" pitchFamily="34" charset="-122"/>
                <a:cs typeface="Sora Semi Bold" pitchFamily="34" charset="-120"/>
              </a:rPr>
              <a:t>Assumptions &amp; Limitations</a:t>
            </a:r>
            <a:endParaRPr lang="en-US" sz="2400" dirty="0">
              <a:solidFill>
                <a:srgbClr val="C00000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5C4F9EF-CDD1-A765-FDE9-665375BB805F}"/>
              </a:ext>
            </a:extLst>
          </p:cNvPr>
          <p:cNvSpPr/>
          <p:nvPr/>
        </p:nvSpPr>
        <p:spPr>
          <a:xfrm>
            <a:off x="815340" y="614926"/>
            <a:ext cx="1874520" cy="2961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300"/>
              </a:lnSpc>
              <a:buNone/>
            </a:pPr>
            <a:r>
              <a:rPr lang="en-US" sz="1200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Assumptions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2EF4F78-D592-3316-B253-D5DB14B983DD}"/>
              </a:ext>
            </a:extLst>
          </p:cNvPr>
          <p:cNvSpPr/>
          <p:nvPr/>
        </p:nvSpPr>
        <p:spPr>
          <a:xfrm>
            <a:off x="477656" y="884808"/>
            <a:ext cx="3119974" cy="1385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200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Historical patterns accurately reflect real-world operations</a:t>
            </a:r>
          </a:p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200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Delay categorization is consistent and reliable</a:t>
            </a:r>
          </a:p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200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Aggregated monthly data represents operational reality</a:t>
            </a:r>
          </a:p>
        </p:txBody>
      </p:sp>
      <p:sp>
        <p:nvSpPr>
          <p:cNvPr id="5" name="Text 4">
            <a:extLst>
              <a:ext uri="{FF2B5EF4-FFF2-40B4-BE49-F238E27FC236}">
                <a16:creationId xmlns:a16="http://schemas.microsoft.com/office/drawing/2014/main" id="{5C6FF358-C5D9-C2A5-7933-E7A5CFCA484A}"/>
              </a:ext>
            </a:extLst>
          </p:cNvPr>
          <p:cNvSpPr/>
          <p:nvPr/>
        </p:nvSpPr>
        <p:spPr>
          <a:xfrm>
            <a:off x="477656" y="2475324"/>
            <a:ext cx="2933678" cy="813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200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 real-time operational data available</a:t>
            </a:r>
          </a:p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200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 passenger-level insights or experiences</a:t>
            </a:r>
          </a:p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200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External disruptions not fully captured</a:t>
            </a: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67065C55-D140-4039-8412-755AAD546746}"/>
              </a:ext>
            </a:extLst>
          </p:cNvPr>
          <p:cNvSpPr/>
          <p:nvPr/>
        </p:nvSpPr>
        <p:spPr>
          <a:xfrm>
            <a:off x="815340" y="2164564"/>
            <a:ext cx="2369820" cy="2961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200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Limitations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83D15FD6-7CAD-6240-1402-ECD79FA29E87}"/>
              </a:ext>
            </a:extLst>
          </p:cNvPr>
          <p:cNvSpPr/>
          <p:nvPr/>
        </p:nvSpPr>
        <p:spPr>
          <a:xfrm>
            <a:off x="4963879" y="614926"/>
            <a:ext cx="2615797" cy="311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Future Enhancement Opportunities</a:t>
            </a:r>
          </a:p>
        </p:txBody>
      </p:sp>
      <p:sp>
        <p:nvSpPr>
          <p:cNvPr id="8" name="Shape 11">
            <a:extLst>
              <a:ext uri="{FF2B5EF4-FFF2-40B4-BE49-F238E27FC236}">
                <a16:creationId xmlns:a16="http://schemas.microsoft.com/office/drawing/2014/main" id="{15541A56-9608-005F-DDF6-1EE95AD3E0DB}"/>
              </a:ext>
            </a:extLst>
          </p:cNvPr>
          <p:cNvSpPr/>
          <p:nvPr/>
        </p:nvSpPr>
        <p:spPr>
          <a:xfrm>
            <a:off x="4963879" y="1130496"/>
            <a:ext cx="3646721" cy="45719"/>
          </a:xfrm>
          <a:prstGeom prst="rect">
            <a:avLst/>
          </a:prstGeom>
          <a:solidFill>
            <a:srgbClr val="DA1B2E"/>
          </a:solidFill>
          <a:ln/>
        </p:spPr>
      </p:sp>
      <p:sp>
        <p:nvSpPr>
          <p:cNvPr id="9" name="Text 8">
            <a:extLst>
              <a:ext uri="{FF2B5EF4-FFF2-40B4-BE49-F238E27FC236}">
                <a16:creationId xmlns:a16="http://schemas.microsoft.com/office/drawing/2014/main" id="{137B205B-D92A-4ADE-7679-7C5E952CE187}"/>
              </a:ext>
            </a:extLst>
          </p:cNvPr>
          <p:cNvSpPr/>
          <p:nvPr/>
        </p:nvSpPr>
        <p:spPr>
          <a:xfrm>
            <a:off x="4963879" y="1202096"/>
            <a:ext cx="2660094" cy="246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Predictive Delay Modeling</a:t>
            </a:r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25F09C70-9A07-9931-BEC8-5314762DBC9F}"/>
              </a:ext>
            </a:extLst>
          </p:cNvPr>
          <p:cNvSpPr/>
          <p:nvPr/>
        </p:nvSpPr>
        <p:spPr>
          <a:xfrm>
            <a:off x="4963879" y="1448913"/>
            <a:ext cx="2579014" cy="460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Machine learning models to forecast delay probabilities</a:t>
            </a:r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7679B06E-9C71-8C91-F5F3-35003FF4B1C6}"/>
              </a:ext>
            </a:extLst>
          </p:cNvPr>
          <p:cNvSpPr/>
          <p:nvPr/>
        </p:nvSpPr>
        <p:spPr>
          <a:xfrm>
            <a:off x="4963879" y="917092"/>
            <a:ext cx="150019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01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EDD36A95-A72E-9E5D-CCE6-656161234B26}"/>
              </a:ext>
            </a:extLst>
          </p:cNvPr>
          <p:cNvSpPr/>
          <p:nvPr/>
        </p:nvSpPr>
        <p:spPr>
          <a:xfrm>
            <a:off x="4963879" y="1980851"/>
            <a:ext cx="150019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02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C2EFA5D6-5A13-4802-69DB-F61DBE7A5278}"/>
              </a:ext>
            </a:extLst>
          </p:cNvPr>
          <p:cNvSpPr/>
          <p:nvPr/>
        </p:nvSpPr>
        <p:spPr>
          <a:xfrm>
            <a:off x="4963878" y="2194005"/>
            <a:ext cx="3646721" cy="45719"/>
          </a:xfrm>
          <a:prstGeom prst="rect">
            <a:avLst/>
          </a:prstGeom>
          <a:solidFill>
            <a:srgbClr val="DA1B2E"/>
          </a:solidFill>
          <a:ln/>
        </p:spPr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4E236605-EC2E-38F8-144A-EEF20C62583E}"/>
              </a:ext>
            </a:extLst>
          </p:cNvPr>
          <p:cNvSpPr/>
          <p:nvPr/>
        </p:nvSpPr>
        <p:spPr>
          <a:xfrm>
            <a:off x="4963878" y="2248341"/>
            <a:ext cx="2452708" cy="246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Real-Time Weather Integration</a:t>
            </a: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344C04F1-B0D6-4ED7-F156-9A13B12D9C78}"/>
              </a:ext>
            </a:extLst>
          </p:cNvPr>
          <p:cNvSpPr/>
          <p:nvPr/>
        </p:nvSpPr>
        <p:spPr>
          <a:xfrm>
            <a:off x="4963878" y="2547501"/>
            <a:ext cx="2566234" cy="428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Live weather data feeds for </a:t>
            </a:r>
          </a:p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dynamic scheduling</a:t>
            </a: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1045A81E-01E0-0016-7546-6C5564D5CC04}"/>
              </a:ext>
            </a:extLst>
          </p:cNvPr>
          <p:cNvSpPr/>
          <p:nvPr/>
        </p:nvSpPr>
        <p:spPr>
          <a:xfrm>
            <a:off x="4963879" y="3028376"/>
            <a:ext cx="150019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03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Shape 11">
            <a:extLst>
              <a:ext uri="{FF2B5EF4-FFF2-40B4-BE49-F238E27FC236}">
                <a16:creationId xmlns:a16="http://schemas.microsoft.com/office/drawing/2014/main" id="{653980E8-986D-9BE8-2C4A-655D9EE64ED6}"/>
              </a:ext>
            </a:extLst>
          </p:cNvPr>
          <p:cNvSpPr/>
          <p:nvPr/>
        </p:nvSpPr>
        <p:spPr>
          <a:xfrm>
            <a:off x="4963877" y="3238091"/>
            <a:ext cx="3646721" cy="45719"/>
          </a:xfrm>
          <a:prstGeom prst="rect">
            <a:avLst/>
          </a:prstGeom>
          <a:solidFill>
            <a:srgbClr val="DA1B2E"/>
          </a:solidFill>
          <a:ln/>
        </p:spPr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313F7CBE-AA31-CDCC-DEC8-14503187E82C}"/>
              </a:ext>
            </a:extLst>
          </p:cNvPr>
          <p:cNvSpPr/>
          <p:nvPr/>
        </p:nvSpPr>
        <p:spPr>
          <a:xfrm>
            <a:off x="4963877" y="3371607"/>
            <a:ext cx="2274808" cy="246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Network Optimization</a:t>
            </a:r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91460309-70E6-98A1-5DC8-F1BE3213EAA6}"/>
              </a:ext>
            </a:extLst>
          </p:cNvPr>
          <p:cNvSpPr/>
          <p:nvPr/>
        </p:nvSpPr>
        <p:spPr>
          <a:xfrm>
            <a:off x="4938810" y="3625187"/>
            <a:ext cx="2665933" cy="4533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System-wide approach to delay </a:t>
            </a:r>
          </a:p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management</a:t>
            </a:r>
          </a:p>
        </p:txBody>
      </p:sp>
    </p:spTree>
    <p:extLst>
      <p:ext uri="{BB962C8B-B14F-4D97-AF65-F5344CB8AC3E}">
        <p14:creationId xmlns:p14="http://schemas.microsoft.com/office/powerpoint/2010/main" val="3689790203"/>
      </p:ext>
    </p:extLst>
  </p:cSld>
  <p:clrMapOvr>
    <a:masterClrMapping/>
  </p:clrMapOvr>
</p:sld>
</file>

<file path=ppt/theme/theme1.xml><?xml version="1.0" encoding="utf-8"?>
<a:theme xmlns:a="http://schemas.openxmlformats.org/drawingml/2006/main" name="Logistic Transport Company Profile by Slidesgo">
  <a:themeElements>
    <a:clrScheme name="Simple Light">
      <a:dk1>
        <a:srgbClr val="CC0000"/>
      </a:dk1>
      <a:lt1>
        <a:srgbClr val="161616"/>
      </a:lt1>
      <a:dk2>
        <a:srgbClr val="F3F3F3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325</TotalTime>
  <Words>566</Words>
  <Application>Microsoft Office PowerPoint</Application>
  <PresentationFormat>On-screen Show (16:9)</PresentationFormat>
  <Paragraphs>86</Paragraphs>
  <Slides>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Sora Light</vt:lpstr>
      <vt:lpstr>Work Sans</vt:lpstr>
      <vt:lpstr>Kanit</vt:lpstr>
      <vt:lpstr>Calibri</vt:lpstr>
      <vt:lpstr>Kanit SemiBold</vt:lpstr>
      <vt:lpstr>Arial</vt:lpstr>
      <vt:lpstr>Arial Black</vt:lpstr>
      <vt:lpstr>Logistic Transport Company Profile by Slidesgo</vt:lpstr>
      <vt:lpstr>Airline Performance &amp; Delay Analysis </vt:lpstr>
      <vt:lpstr>Flight Delays: The Silent Cost to Airlines and Passengers</vt:lpstr>
      <vt:lpstr>Dataset Overview &amp; Analytical Approach</vt:lpstr>
      <vt:lpstr>KPIs - Key Performance Indicators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Subhashish Pradhan</dc:creator>
  <cp:lastModifiedBy>Subhashish Pradhan</cp:lastModifiedBy>
  <cp:revision>3</cp:revision>
  <dcterms:modified xsi:type="dcterms:W3CDTF">2026-03-18T09:14:42Z</dcterms:modified>
</cp:coreProperties>
</file>